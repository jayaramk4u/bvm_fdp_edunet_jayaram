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60" r:id="rId4"/>
    <p:sldId id="259" r:id="rId5"/>
    <p:sldId id="261" r:id="rId6"/>
    <p:sldId id="262" r:id="rId7"/>
    <p:sldId id="263" r:id="rId8"/>
    <p:sldId id="271" r:id="rId9"/>
    <p:sldId id="264" r:id="rId10"/>
    <p:sldId id="265" r:id="rId11"/>
    <p:sldId id="266"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4E93-FF49-4799-A0E6-B94A70581A6C}" type="datetimeFigureOut">
              <a:rPr lang="en-IN" smtClean="0"/>
              <a:t>12-06-2026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EE15F-FC27-4313-9230-EC4995189CD5}" type="slidenum">
              <a:rPr lang="en-IN" smtClean="0"/>
              <a:t>‹#›</a:t>
            </a:fld>
            <a:endParaRPr lang="en-IN"/>
          </a:p>
        </p:txBody>
      </p:sp>
    </p:spTree>
    <p:extLst>
      <p:ext uri="{BB962C8B-B14F-4D97-AF65-F5344CB8AC3E}">
        <p14:creationId xmlns:p14="http://schemas.microsoft.com/office/powerpoint/2010/main" val="302161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AC387-293E-D9F0-0467-968C5268C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5A88A8-839A-5FF3-4ABC-16CCC4B57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7C12A1-29E0-2D53-AF3E-7C6505869E1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36F76344-9764-CA62-45A3-B8804E7C66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EA8269-79F1-0BC5-515C-1ADE900B38C5}"/>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77831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311C-261D-09A6-A1D0-7E6260FF67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6B0F16-323D-1C84-BCB7-1D90DAA033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C1132E-8E42-1C2F-776B-B267F39131B2}"/>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73AC705-E573-8BEF-B740-740810419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B8F85-01F6-5162-4D84-70A6AE22949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856748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F051-3D0F-BC68-54EA-CE11CE52D6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B6A911-790A-49BB-DADB-EE24B90C12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E64EC-DD05-76A5-217C-C729F9C57F0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D3F3374-B40F-BC4D-7385-A16E49E794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99F8C7-A268-46CF-34D9-A992573A6B6B}"/>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29486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17AC-4E3A-C634-CE4A-6D45D5F3DA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068D4-C222-5445-84FE-8002A24B1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3BED4D-5E9B-2FE0-AE23-B3231CBAD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67FA3-AF3E-D6DF-B1BC-B8C3779BCEA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8AE362FD-FBD9-03D3-964B-9BE753BDC9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FB39CD-87A0-856D-B5FA-F7DC0E4A4E7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360925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819F-19AB-0327-073E-88AFE9E044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8C518B-D164-725C-7C12-E1C3F5579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83AE6-1996-BED0-0B8D-88FFE3CFA1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D06F63-5CF2-D50D-1F9A-D72D7B95ED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38775D-4EB2-F4AD-7837-5417C4FA5D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37E984-9652-2B93-E458-FF0094345D9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8" name="Footer Placeholder 7">
            <a:extLst>
              <a:ext uri="{FF2B5EF4-FFF2-40B4-BE49-F238E27FC236}">
                <a16:creationId xmlns:a16="http://schemas.microsoft.com/office/drawing/2014/main" id="{B9866329-B26D-D7C1-AFC5-C377C52E13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2AB1CE-C5B9-D44F-BE6D-285A11E226A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8920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15BB-9483-3711-D607-F0269687D5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0B6435-43C6-2907-E52C-5FFDC8BE7DDB}"/>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4" name="Footer Placeholder 3">
            <a:extLst>
              <a:ext uri="{FF2B5EF4-FFF2-40B4-BE49-F238E27FC236}">
                <a16:creationId xmlns:a16="http://schemas.microsoft.com/office/drawing/2014/main" id="{716ED901-F877-821D-949A-DBEEC7B526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640870-FA3D-3E5C-1936-83C5D689DAC7}"/>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418162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B728F-5364-4557-2037-D81AFCF16484}"/>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3" name="Footer Placeholder 2">
            <a:extLst>
              <a:ext uri="{FF2B5EF4-FFF2-40B4-BE49-F238E27FC236}">
                <a16:creationId xmlns:a16="http://schemas.microsoft.com/office/drawing/2014/main" id="{C624A080-75F4-015D-86A4-E4342815FE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B72616-E17C-289D-7B3E-39E425BA4559}"/>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26499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E43C-F7CF-41E5-0A97-CC05AD3F4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E7EB31-58E5-9D3D-6B75-2E784858F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364AD6-AA03-483C-D529-27960F316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A25AD4-3349-A1D6-5F11-E2B308C940B8}"/>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0221274D-9056-3BDB-6871-41ACA8FFFD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421AF-3C80-7F08-382D-FF7B7CD5B6B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80223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4BFB-B4D4-5228-7590-36EAAD4B7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F3609F-E95B-0FDA-DC98-2564A7D20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1F12D7-7F52-7B9D-2DF3-8EBD2E197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B431CA-56D9-FCD4-C380-B5AF49D479F5}"/>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DED083CF-1BA4-265C-F5D5-91E5A0AD8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313434-5B7B-3024-6BD9-055C5B453DC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35513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FAF9-C3AC-7F45-718E-359D05B450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44DDF3-D8BA-5B4E-8BE2-DC05CA90A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E02514-169D-EC99-6293-D9FE364B009C}"/>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642F0C74-19AA-685E-0990-BA16412B53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5C4AA9-5377-963C-C048-6EA541C1D18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013603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CD16B-A872-75F4-C3A8-89387BCE52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F8B0A8-02DB-E33B-E7E3-473E2A743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8D01D-6B23-9A28-4531-8A6466EC4E5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1B466CED-343F-A990-CD7C-51FC44035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B8ABE7-A830-52E9-1954-712C0F37BEC2}"/>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87470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E9BAD1-1B8D-1F4A-1A16-8E1A6F518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38AB03-F137-1306-DFF2-568A54782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D1425-429C-807D-4F11-3A9B706DA9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75CEE5AD-8413-90B0-3B1B-C5256154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47266B5-55F6-81FC-5B73-5046CE2DA7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9A3E1C-7B5B-4B30-BAC3-CD4C129FDE73}" type="slidenum">
              <a:rPr lang="en-IN" smtClean="0"/>
              <a:t>‹#›</a:t>
            </a:fld>
            <a:endParaRPr lang="en-IN"/>
          </a:p>
        </p:txBody>
      </p:sp>
    </p:spTree>
    <p:extLst>
      <p:ext uri="{BB962C8B-B14F-4D97-AF65-F5344CB8AC3E}">
        <p14:creationId xmlns:p14="http://schemas.microsoft.com/office/powerpoint/2010/main" val="21963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F5F0-3BFC-3E03-9A84-80A1B41A1F10}"/>
              </a:ext>
            </a:extLst>
          </p:cNvPr>
          <p:cNvSpPr>
            <a:spLocks noGrp="1"/>
          </p:cNvSpPr>
          <p:nvPr>
            <p:ph type="ctrTitle"/>
          </p:nvPr>
        </p:nvSpPr>
        <p:spPr/>
        <p:txBody>
          <a:bodyPr/>
          <a:lstStyle/>
          <a:p>
            <a:r>
              <a:rPr lang="en-US" b="1" dirty="0"/>
              <a:t>IBM University Engagement Project Submission</a:t>
            </a:r>
            <a:endParaRPr lang="en-IN" dirty="0"/>
          </a:p>
        </p:txBody>
      </p:sp>
      <p:sp>
        <p:nvSpPr>
          <p:cNvPr id="3" name="Subtitle 2">
            <a:extLst>
              <a:ext uri="{FF2B5EF4-FFF2-40B4-BE49-F238E27FC236}">
                <a16:creationId xmlns:a16="http://schemas.microsoft.com/office/drawing/2014/main" id="{59E95B02-220B-095B-95FF-08C7D8796E01}"/>
              </a:ext>
            </a:extLst>
          </p:cNvPr>
          <p:cNvSpPr>
            <a:spLocks noGrp="1"/>
          </p:cNvSpPr>
          <p:nvPr>
            <p:ph type="subTitle" idx="1"/>
          </p:nvPr>
        </p:nvSpPr>
        <p:spPr/>
        <p:txBody>
          <a:bodyPr/>
          <a:lstStyle/>
          <a:p>
            <a:r>
              <a:rPr lang="en-IN" dirty="0"/>
              <a:t>Agentic AI for Mental Health Awareness &amp; Suicide Prevention</a:t>
            </a:r>
          </a:p>
        </p:txBody>
      </p:sp>
    </p:spTree>
    <p:extLst>
      <p:ext uri="{BB962C8B-B14F-4D97-AF65-F5344CB8AC3E}">
        <p14:creationId xmlns:p14="http://schemas.microsoft.com/office/powerpoint/2010/main" val="419701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911073228"/>
              </p:ext>
            </p:extLst>
          </p:nvPr>
        </p:nvGraphicFramePr>
        <p:xfrm>
          <a:off x="1299257" y="2600315"/>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 K</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jayaramk4u@gmail.com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8848030542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Healthcare]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IN" sz="2400" dirty="0">
                <a:highlight>
                  <a:srgbClr val="FFFF00"/>
                </a:highlight>
              </a:rPr>
              <a:t>Agentic AI for Mental Health Awareness &amp; Suicide Prevention</a:t>
            </a:r>
            <a:r>
              <a:rPr lang="en-US" sz="2400" b="1" i="0" u="none" strike="noStrike" cap="none" dirty="0">
                <a:solidFill>
                  <a:srgbClr val="000000"/>
                </a:solidFill>
                <a:highlight>
                  <a:srgbClr val="FFFF00"/>
                </a:highlight>
                <a:latin typeface="Arial"/>
                <a:ea typeface="Arial"/>
                <a:cs typeface="Arial"/>
                <a:sym typeface="Arial"/>
              </a:rPr>
              <a:t>]</a:t>
            </a:r>
            <a:endParaRPr lang="en-IN"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E716FBF5-66D0-2465-A9AB-6553F1382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8440" y="3635570"/>
            <a:ext cx="959261" cy="9935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DF68-359E-6083-0DA5-AC32A289BDBA}"/>
              </a:ext>
            </a:extLst>
          </p:cNvPr>
          <p:cNvSpPr>
            <a:spLocks noGrp="1"/>
          </p:cNvSpPr>
          <p:nvPr>
            <p:ph type="title"/>
          </p:nvPr>
        </p:nvSpPr>
        <p:spPr>
          <a:xfrm>
            <a:off x="838200" y="365126"/>
            <a:ext cx="10515600" cy="450952"/>
          </a:xfrm>
        </p:spPr>
        <p:txBody>
          <a:bodyPr>
            <a:noAutofit/>
          </a:bodyPr>
          <a:lstStyle/>
          <a:p>
            <a:r>
              <a:rPr lang="en-IN" sz="2400" b="1" dirty="0"/>
              <a:t>Problem Statement:   Mental Healthcare Agent</a:t>
            </a:r>
            <a:br>
              <a:rPr lang="en-IN" sz="2400" b="1" dirty="0"/>
            </a:br>
            <a:endParaRPr lang="en-IN" sz="2400" b="1" dirty="0"/>
          </a:p>
        </p:txBody>
      </p:sp>
      <p:sp>
        <p:nvSpPr>
          <p:cNvPr id="3" name="Content Placeholder 2">
            <a:extLst>
              <a:ext uri="{FF2B5EF4-FFF2-40B4-BE49-F238E27FC236}">
                <a16:creationId xmlns:a16="http://schemas.microsoft.com/office/drawing/2014/main" id="{7347BEEC-415A-113B-3F0D-5D3D36B9F194}"/>
              </a:ext>
            </a:extLst>
          </p:cNvPr>
          <p:cNvSpPr>
            <a:spLocks noGrp="1"/>
          </p:cNvSpPr>
          <p:nvPr>
            <p:ph idx="1"/>
          </p:nvPr>
        </p:nvSpPr>
        <p:spPr>
          <a:xfrm>
            <a:off x="838200" y="1002890"/>
            <a:ext cx="10515600" cy="5360886"/>
          </a:xfrm>
        </p:spPr>
        <p:txBody>
          <a:bodyPr>
            <a:normAutofit/>
          </a:bodyPr>
          <a:lstStyle/>
          <a:p>
            <a:pPr marL="0" indent="0">
              <a:buNone/>
            </a:pPr>
            <a:r>
              <a:rPr lang="en-US" sz="1800" b="1" dirty="0"/>
              <a:t>The Challenge </a:t>
            </a:r>
          </a:p>
          <a:p>
            <a:pPr marL="0" indent="0">
              <a:buNone/>
            </a:pPr>
            <a:r>
              <a:rPr lang="en-US" sz="16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pPr marL="0" indent="0">
              <a:buNone/>
            </a:pPr>
            <a:r>
              <a:rPr lang="en-IN" sz="1800" b="1" dirty="0"/>
              <a:t>The Objective </a:t>
            </a:r>
          </a:p>
          <a:p>
            <a:pPr marL="0" indent="0">
              <a:buNone/>
            </a:pPr>
            <a:r>
              <a:rPr lang="en-IN" sz="1600" dirty="0"/>
              <a:t>Build an Agentic AI-powered Mental Health Awareness &amp; Suicide Prevention Agent that is empathetic, proactive, and safe. The solution should:</a:t>
            </a:r>
          </a:p>
          <a:p>
            <a:r>
              <a:rPr lang="en-IN" sz="1600" b="1" dirty="0"/>
              <a:t>Promote Awareness &amp; Education </a:t>
            </a:r>
            <a:r>
              <a:rPr lang="en-IN" sz="1600" dirty="0"/>
              <a:t>– Share accessible resources on mindfulness, coping strategies, and self-care.</a:t>
            </a:r>
          </a:p>
          <a:p>
            <a:r>
              <a:rPr lang="en-IN" sz="1600" b="1" dirty="0"/>
              <a:t>Enable Early Detection (RAG) </a:t>
            </a:r>
            <a:r>
              <a:rPr lang="en-IN" sz="1600" dirty="0"/>
              <a:t>– Use Retrieval-Augmented Generation to identify distress signals in conversations, journaling inputs, or safe online data. </a:t>
            </a:r>
          </a:p>
          <a:p>
            <a:r>
              <a:rPr lang="en-IN" sz="1600" b="1" dirty="0"/>
              <a:t>Provide Empathetic Support </a:t>
            </a:r>
            <a:r>
              <a:rPr lang="en-IN" sz="1600" dirty="0"/>
              <a:t>– Build a conversational agent that listens actively and responds with empathy (with clear disclaimers: not a substitute for professional medical advice). </a:t>
            </a:r>
          </a:p>
          <a:p>
            <a:r>
              <a:rPr lang="en-IN" sz="1600" b="1" dirty="0"/>
              <a:t>Predict &amp; Prevent Risks </a:t>
            </a:r>
            <a:r>
              <a:rPr lang="en-IN" sz="1600" dirty="0"/>
              <a:t>– Forecast stress peaks, suggest preventive strategies, and issue alerts when high-risk signals are detected (with consent). </a:t>
            </a:r>
          </a:p>
          <a:p>
            <a:r>
              <a:rPr lang="en-IN" sz="1600" b="1" dirty="0"/>
              <a:t>Connect to Human Support </a:t>
            </a:r>
            <a:r>
              <a:rPr lang="en-IN" sz="1600" dirty="0"/>
              <a:t>– Link users to helplines, </a:t>
            </a:r>
            <a:r>
              <a:rPr lang="en-IN" sz="1600" dirty="0" err="1"/>
              <a:t>counselors</a:t>
            </a:r>
            <a:r>
              <a:rPr lang="en-IN" sz="1600" dirty="0"/>
              <a:t>, or community support for timely intervention. </a:t>
            </a:r>
            <a:endParaRPr lang="en-IN" sz="1600" b="1" dirty="0"/>
          </a:p>
        </p:txBody>
      </p:sp>
    </p:spTree>
    <p:extLst>
      <p:ext uri="{BB962C8B-B14F-4D97-AF65-F5344CB8AC3E}">
        <p14:creationId xmlns:p14="http://schemas.microsoft.com/office/powerpoint/2010/main" val="195492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717755" y="1504335"/>
            <a:ext cx="10707329" cy="4955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 Stack (Mandatory)</a:t>
            </a:r>
            <a:r>
              <a:rPr lang="en-US" sz="2800" b="0" i="0" u="none" strike="noStrike" cap="none" dirty="0">
                <a:solidFill>
                  <a:srgbClr val="000000"/>
                </a:solidFill>
                <a:latin typeface="Arial"/>
                <a:ea typeface="Arial"/>
                <a:cs typeface="Arial"/>
                <a:sym typeface="Arial"/>
              </a:rPr>
              <a:t> </a:t>
            </a:r>
            <a:endParaRPr sz="2800" dirty="0"/>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Use </a:t>
            </a:r>
            <a:r>
              <a:rPr lang="en-US" sz="2800" b="1" i="0" u="none" strike="noStrike" cap="none" dirty="0">
                <a:solidFill>
                  <a:srgbClr val="000000"/>
                </a:solidFill>
                <a:latin typeface="Arial"/>
                <a:ea typeface="Arial"/>
                <a:cs typeface="Arial"/>
                <a:sym typeface="Arial"/>
              </a:rPr>
              <a:t>any one</a:t>
            </a:r>
            <a:r>
              <a:rPr lang="en-US" sz="2800" b="0" i="0" u="none" strike="noStrike" cap="none" dirty="0">
                <a:solidFill>
                  <a:srgbClr val="000000"/>
                </a:solidFill>
                <a:latin typeface="Arial"/>
                <a:ea typeface="Arial"/>
                <a:cs typeface="Arial"/>
                <a:sym typeface="Arial"/>
              </a:rPr>
              <a:t> of the following approaches: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err="1">
                <a:solidFill>
                  <a:srgbClr val="000000"/>
                </a:solidFill>
                <a:latin typeface="Arial"/>
                <a:ea typeface="Arial"/>
                <a:cs typeface="Arial"/>
                <a:sym typeface="Arial"/>
              </a:rPr>
              <a:t>LangFlow</a:t>
            </a:r>
            <a:r>
              <a:rPr lang="en-US" sz="2800" b="0" i="0" u="none" strike="noStrike" cap="none" dirty="0">
                <a:solidFill>
                  <a:srgbClr val="000000"/>
                </a:solidFill>
                <a:latin typeface="Arial"/>
                <a:ea typeface="Arial"/>
                <a:cs typeface="Arial"/>
                <a:sym typeface="Arial"/>
              </a:rPr>
              <a:t> + IBM watsonx.ai +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IBM Cloud Agentic Lab with IBM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Replicate with </a:t>
            </a:r>
            <a:r>
              <a:rPr lang="en-US" sz="2800" b="0" i="0" u="none" strike="noStrike" cap="none" dirty="0" err="1">
                <a:solidFill>
                  <a:srgbClr val="000000"/>
                </a:solidFill>
                <a:latin typeface="Arial"/>
                <a:ea typeface="Arial"/>
                <a:cs typeface="Arial"/>
                <a:sym typeface="Arial"/>
              </a:rPr>
              <a:t>LangChain</a:t>
            </a:r>
            <a:r>
              <a:rPr lang="en-US" sz="2800" b="0" i="0" u="none" strike="noStrike" cap="none" dirty="0">
                <a:solidFill>
                  <a:srgbClr val="000000"/>
                </a:solidFill>
                <a:latin typeface="Arial"/>
                <a:ea typeface="Arial"/>
                <a:cs typeface="Arial"/>
                <a:sym typeface="Arial"/>
              </a:rPr>
              <a:t> + RAG + IBM Granite Models</a:t>
            </a:r>
            <a:endParaRPr sz="2800" dirty="0"/>
          </a:p>
          <a:p>
            <a:pPr marL="285750" marR="0" lvl="0" indent="-196850" algn="l" rtl="0">
              <a:lnSpc>
                <a:spcPct val="100000"/>
              </a:lnSpc>
              <a:spcBef>
                <a:spcPts val="0"/>
              </a:spcBef>
              <a:spcAft>
                <a:spcPts val="0"/>
              </a:spcAft>
              <a:buClr>
                <a:srgbClr val="000000"/>
              </a:buClr>
              <a:buSzPts val="1400"/>
              <a:buFont typeface="Arial"/>
              <a:buNone/>
            </a:pPr>
            <a:endParaRPr sz="2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I used </a:t>
            </a:r>
            <a:r>
              <a:rPr lang="en-US" sz="2800" b="0" i="0" u="none" strike="noStrike" cap="none" dirty="0" err="1">
                <a:solidFill>
                  <a:srgbClr val="000000"/>
                </a:solidFill>
                <a:highlight>
                  <a:srgbClr val="FFFF00"/>
                </a:highlight>
                <a:latin typeface="Arial"/>
                <a:ea typeface="Arial"/>
                <a:cs typeface="Arial"/>
                <a:sym typeface="Arial"/>
              </a:rPr>
              <a:t>LangFlow</a:t>
            </a:r>
            <a:r>
              <a:rPr lang="en-US" sz="2800" b="0" i="0" u="none" strike="noStrike" cap="none" dirty="0">
                <a:solidFill>
                  <a:srgbClr val="000000"/>
                </a:solidFill>
                <a:highlight>
                  <a:srgbClr val="FFFF00"/>
                </a:highlight>
                <a:latin typeface="Arial"/>
                <a:ea typeface="Arial"/>
                <a:cs typeface="Arial"/>
                <a:sym typeface="Arial"/>
              </a:rPr>
              <a:t> + IBM watsonx.ai + Granite Models </a:t>
            </a:r>
            <a:endParaRPr sz="2800" dirty="0"/>
          </a:p>
          <a:p>
            <a:pPr marL="0" marR="0" lvl="0" indent="0" algn="l"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 </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509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Proposed Solution</a:t>
            </a:r>
            <a:r>
              <a:rPr lang="en-US" sz="1400" b="1" i="0" u="none" strike="noStrike" cap="none" dirty="0">
                <a:solidFill>
                  <a:srgbClr val="000000"/>
                </a:solidFill>
                <a:latin typeface="Arial"/>
                <a:ea typeface="Arial"/>
                <a:cs typeface="Arial"/>
                <a:sym typeface="Arial"/>
              </a:rPr>
              <a:t>: </a:t>
            </a:r>
            <a:endParaRPr dirty="0"/>
          </a:p>
          <a:p>
            <a:pPr algn="just"/>
            <a:r>
              <a:rPr lang="en-IN" b="1" dirty="0">
                <a:effectLst/>
              </a:rPr>
              <a:t>The Agentic AI‑powered Mental Health Awareness &amp; Suicide Prevention Agent </a:t>
            </a:r>
            <a:r>
              <a:rPr lang="en-IN" dirty="0">
                <a:effectLst/>
              </a:rPr>
              <a:t>is designed to serve as a compassionate digital companion that </a:t>
            </a:r>
            <a:r>
              <a:rPr lang="en-IN" b="1" dirty="0">
                <a:effectLst/>
              </a:rPr>
              <a:t>promotes awareness, education, and proactive support</a:t>
            </a:r>
            <a:r>
              <a:rPr lang="en-IN" dirty="0">
                <a:effectLst/>
              </a:rPr>
              <a:t>. Built on </a:t>
            </a:r>
            <a:r>
              <a:rPr lang="en-IN" b="1" dirty="0">
                <a:effectLst/>
              </a:rPr>
              <a:t>IBM Cloud watsonx.ai </a:t>
            </a:r>
            <a:r>
              <a:rPr lang="en-IN" dirty="0">
                <a:effectLst/>
              </a:rPr>
              <a:t>and orchestrated through </a:t>
            </a:r>
            <a:r>
              <a:rPr lang="en-IN" b="1" dirty="0" err="1">
                <a:effectLst/>
              </a:rPr>
              <a:t>Langflow</a:t>
            </a:r>
            <a:r>
              <a:rPr lang="en-IN" dirty="0">
                <a:effectLst/>
              </a:rPr>
              <a:t>, the agent leverages </a:t>
            </a:r>
            <a:r>
              <a:rPr lang="en-IN" b="1" dirty="0">
                <a:effectLst/>
              </a:rPr>
              <a:t>Retrieval‑Augmented Generation (RAG) </a:t>
            </a:r>
            <a:r>
              <a:rPr lang="en-IN" dirty="0">
                <a:effectLst/>
              </a:rPr>
              <a:t>to provide accessible resources on mindfulness, coping strategies, and self‑care while detecting early signs of distress in conversations or journaling inputs. Its </a:t>
            </a:r>
            <a:r>
              <a:rPr lang="en-IN" b="1" dirty="0">
                <a:effectLst/>
              </a:rPr>
              <a:t>empathetic conversational </a:t>
            </a:r>
            <a:r>
              <a:rPr lang="en-IN" dirty="0">
                <a:effectLst/>
              </a:rPr>
              <a:t>design ensures that every interaction validates the user’s feelings, </a:t>
            </a:r>
            <a:r>
              <a:rPr lang="en-IN" b="1" dirty="0">
                <a:effectLst/>
              </a:rPr>
              <a:t>encourages healthy coping mechanisms</a:t>
            </a:r>
            <a:r>
              <a:rPr lang="en-IN" dirty="0">
                <a:effectLst/>
              </a:rPr>
              <a:t>, and </a:t>
            </a:r>
            <a:r>
              <a:rPr lang="en-IN" b="1" dirty="0">
                <a:effectLst/>
              </a:rPr>
              <a:t>consistently reminds users that it is not a substitute for professional medical advice</a:t>
            </a:r>
            <a:r>
              <a:rPr lang="en-IN" dirty="0">
                <a:effectLst/>
              </a:rPr>
              <a:t>.</a:t>
            </a:r>
            <a:endParaRPr lang="en-IN" dirty="0"/>
          </a:p>
          <a:p>
            <a:endParaRPr lang="en-IN" dirty="0">
              <a:effectLst/>
            </a:endParaRPr>
          </a:p>
          <a:p>
            <a:pPr algn="just"/>
            <a:r>
              <a:rPr lang="en-IN" dirty="0">
                <a:effectLst/>
              </a:rPr>
              <a:t>Beyond awareness and empathetic dialogue, the agent incorporates predictive analytics to </a:t>
            </a:r>
            <a:r>
              <a:rPr lang="en-IN" b="1" dirty="0">
                <a:effectLst/>
              </a:rPr>
              <a:t>forecast stress </a:t>
            </a:r>
            <a:r>
              <a:rPr lang="en-IN" dirty="0">
                <a:effectLst/>
              </a:rPr>
              <a:t>peaks and </a:t>
            </a:r>
            <a:r>
              <a:rPr lang="en-IN" b="1" dirty="0">
                <a:effectLst/>
              </a:rPr>
              <a:t>suggest preventive strategies</a:t>
            </a:r>
            <a:r>
              <a:rPr lang="en-IN" dirty="0">
                <a:effectLst/>
              </a:rPr>
              <a:t>, </a:t>
            </a:r>
            <a:r>
              <a:rPr lang="en-IN" b="1" dirty="0">
                <a:effectLst/>
              </a:rPr>
              <a:t>issuing alerts when high‑risk signals are detected</a:t>
            </a:r>
            <a:r>
              <a:rPr lang="en-IN" dirty="0">
                <a:effectLst/>
              </a:rPr>
              <a:t> with user consent. Most importantly, it bridges the gap between digital support and human intervention by connecting individuals to helplines, </a:t>
            </a:r>
            <a:r>
              <a:rPr lang="en-IN" dirty="0" err="1">
                <a:effectLst/>
              </a:rPr>
              <a:t>counselors</a:t>
            </a:r>
            <a:r>
              <a:rPr lang="en-IN" dirty="0">
                <a:effectLst/>
              </a:rPr>
              <a:t>, and community resources for timely assistance. This integrated approach ensures that the agent not only educates and supports but also safeguards users by guiding them toward professional help when needed, making it a responsible and safe application of agentic AI in mental health.</a:t>
            </a:r>
            <a:endParaRPr lang="en-IN"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components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a:t>
            </a:r>
            <a:r>
              <a:rPr lang="en-US" sz="1400" dirty="0">
                <a:solidFill>
                  <a:srgbClr val="000000"/>
                </a:solidFill>
                <a:latin typeface="Arial"/>
                <a:ea typeface="Arial"/>
                <a:cs typeface="Arial"/>
                <a:sym typeface="Arial"/>
              </a:rPr>
              <a:t>concerns and feelings</a:t>
            </a:r>
            <a:r>
              <a:rPr lang="en-US" sz="1400" b="0" i="0" u="none" strike="noStrike" cap="none" dirty="0">
                <a:solidFill>
                  <a:srgbClr val="000000"/>
                </a:solidFill>
                <a:latin typeface="Arial"/>
                <a:ea typeface="Arial"/>
                <a:cs typeface="Arial"/>
                <a:sym typeface="Arial"/>
              </a:rPr>
              <a:t> (text/voice).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a:t>
            </a:r>
            <a:r>
              <a:rPr lang="en-US" sz="1400" b="0" i="0" u="none" strike="noStrike" cap="none" dirty="0" err="1">
                <a:solidFill>
                  <a:srgbClr val="000000"/>
                </a:solidFill>
                <a:latin typeface="Arial"/>
                <a:ea typeface="Arial"/>
                <a:cs typeface="Arial"/>
                <a:sym typeface="Arial"/>
              </a:rPr>
              <a:t>lisen</a:t>
            </a:r>
            <a:r>
              <a:rPr lang="en-US" sz="1400" b="0" i="0" u="none" strike="noStrike" cap="none" dirty="0">
                <a:solidFill>
                  <a:srgbClr val="000000"/>
                </a:solidFill>
                <a:latin typeface="Arial"/>
                <a:ea typeface="Arial"/>
                <a:cs typeface="Arial"/>
                <a:sym typeface="Arial"/>
              </a:rPr>
              <a:t> to peoples mental feelings and generate personalized </a:t>
            </a:r>
            <a:r>
              <a:rPr lang="en-US" sz="1400" dirty="0">
                <a:solidFill>
                  <a:srgbClr val="000000"/>
                </a:solidFill>
                <a:latin typeface="Arial"/>
                <a:ea typeface="Arial"/>
                <a:cs typeface="Arial"/>
                <a:sym typeface="Arial"/>
              </a:rPr>
              <a:t>advice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i="0" u="none" strike="noStrike" cap="none" dirty="0" err="1">
                <a:solidFill>
                  <a:srgbClr val="000000"/>
                </a:solidFill>
                <a:latin typeface="Arial"/>
                <a:ea typeface="Arial"/>
                <a:cs typeface="Arial"/>
                <a:sym typeface="Arial"/>
              </a:rPr>
              <a:t>ibm</a:t>
            </a:r>
            <a:r>
              <a:rPr lang="en-US" sz="1400" i="0" u="none" strike="noStrike" cap="none" dirty="0">
                <a:solidFill>
                  <a:srgbClr val="000000"/>
                </a:solidFill>
                <a:latin typeface="Arial"/>
                <a:ea typeface="Arial"/>
                <a:cs typeface="Arial"/>
                <a:sym typeface="Arial"/>
              </a:rPr>
              <a:t>/</a:t>
            </a:r>
            <a:r>
              <a:rPr lang="en-US" sz="1400" dirty="0">
                <a:solidFill>
                  <a:srgbClr val="000000"/>
                </a:solidFill>
                <a:latin typeface="Arial"/>
                <a:ea typeface="Arial"/>
                <a:cs typeface="Arial"/>
                <a:sym typeface="Arial"/>
              </a:rPr>
              <a:t>g</a:t>
            </a:r>
            <a:r>
              <a:rPr lang="en-US" sz="1400" b="0" i="0" u="none" strike="noStrike" cap="none" dirty="0">
                <a:solidFill>
                  <a:srgbClr val="000000"/>
                </a:solidFill>
                <a:latin typeface="Arial"/>
                <a:ea typeface="Arial"/>
                <a:cs typeface="Arial"/>
                <a:sym typeface="Arial"/>
              </a:rPr>
              <a:t>ranite-8b-code-Instruct → Fast extraction and summarization  for real-time </a:t>
            </a:r>
            <a:r>
              <a:rPr lang="en-US" sz="1400" dirty="0">
                <a:solidFill>
                  <a:srgbClr val="000000"/>
                </a:solidFill>
                <a:latin typeface="Arial"/>
                <a:ea typeface="Arial"/>
                <a:cs typeface="Arial"/>
                <a:sym typeface="Arial"/>
              </a:rPr>
              <a:t>help</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for mental health suggestions in a calm and gentle manner.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data and data extracted from sources for processing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6) </a:t>
            </a:r>
            <a:r>
              <a:rPr lang="en-US" sz="1400" b="1" dirty="0">
                <a:solidFill>
                  <a:srgbClr val="000000"/>
                </a:solidFill>
                <a:latin typeface="Arial"/>
                <a:ea typeface="Arial"/>
                <a:cs typeface="Arial"/>
                <a:sym typeface="Arial"/>
              </a:rPr>
              <a:t>URL component –</a:t>
            </a:r>
            <a:r>
              <a:rPr lang="en-US" sz="1400" dirty="0">
                <a:solidFill>
                  <a:srgbClr val="000000"/>
                </a:solidFill>
                <a:latin typeface="Arial"/>
                <a:ea typeface="Arial"/>
                <a:cs typeface="Arial"/>
                <a:sym typeface="Arial"/>
              </a:rPr>
              <a:t>f or collecting data from web pages</a:t>
            </a:r>
            <a:endParaRPr dirty="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8ECF-ED94-C1BC-722F-60CA45BB6E81}"/>
              </a:ext>
            </a:extLst>
          </p:cNvPr>
          <p:cNvSpPr>
            <a:spLocks noGrp="1"/>
          </p:cNvSpPr>
          <p:nvPr>
            <p:ph type="title"/>
          </p:nvPr>
        </p:nvSpPr>
        <p:spPr>
          <a:xfrm>
            <a:off x="838200" y="365125"/>
            <a:ext cx="10515600" cy="608269"/>
          </a:xfrm>
        </p:spPr>
        <p:txBody>
          <a:bodyPr>
            <a:normAutofit/>
          </a:bodyPr>
          <a:lstStyle/>
          <a:p>
            <a:r>
              <a:rPr lang="en-IN" sz="2800" dirty="0" err="1"/>
              <a:t>Langflow</a:t>
            </a:r>
            <a:r>
              <a:rPr lang="en-IN" sz="2800" dirty="0"/>
              <a:t> workflow</a:t>
            </a:r>
          </a:p>
        </p:txBody>
      </p:sp>
      <p:pic>
        <p:nvPicPr>
          <p:cNvPr id="5" name="Content Placeholder 4">
            <a:extLst>
              <a:ext uri="{FF2B5EF4-FFF2-40B4-BE49-F238E27FC236}">
                <a16:creationId xmlns:a16="http://schemas.microsoft.com/office/drawing/2014/main" id="{BF04A44A-9EBA-2FA2-05B5-E55851237F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8929" y="973138"/>
            <a:ext cx="10860177" cy="5388333"/>
          </a:xfrm>
          <a:prstGeom prst="rect">
            <a:avLst/>
          </a:prstGeom>
        </p:spPr>
      </p:pic>
    </p:spTree>
    <p:extLst>
      <p:ext uri="{BB962C8B-B14F-4D97-AF65-F5344CB8AC3E}">
        <p14:creationId xmlns:p14="http://schemas.microsoft.com/office/powerpoint/2010/main" val="322950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AF01-7B98-1D59-C64C-63AA688E66CB}"/>
              </a:ext>
            </a:extLst>
          </p:cNvPr>
          <p:cNvSpPr>
            <a:spLocks noGrp="1"/>
          </p:cNvSpPr>
          <p:nvPr>
            <p:ph type="title"/>
          </p:nvPr>
        </p:nvSpPr>
        <p:spPr>
          <a:xfrm>
            <a:off x="838200" y="365126"/>
            <a:ext cx="10515600" cy="637764"/>
          </a:xfrm>
        </p:spPr>
        <p:txBody>
          <a:bodyPr>
            <a:normAutofit/>
          </a:bodyPr>
          <a:lstStyle/>
          <a:p>
            <a:r>
              <a:rPr lang="en-IN" sz="2400" dirty="0"/>
              <a:t>Query Output</a:t>
            </a:r>
          </a:p>
        </p:txBody>
      </p:sp>
      <p:pic>
        <p:nvPicPr>
          <p:cNvPr id="5" name="Content Placeholder 4">
            <a:extLst>
              <a:ext uri="{FF2B5EF4-FFF2-40B4-BE49-F238E27FC236}">
                <a16:creationId xmlns:a16="http://schemas.microsoft.com/office/drawing/2014/main" id="{FE8549DE-84BB-3C1A-A4B0-B4B52EF13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7690" y="1003300"/>
            <a:ext cx="10046109" cy="5173663"/>
          </a:xfrm>
          <a:prstGeom prst="rect">
            <a:avLst/>
          </a:prstGeom>
        </p:spPr>
      </p:pic>
    </p:spTree>
    <p:extLst>
      <p:ext uri="{BB962C8B-B14F-4D97-AF65-F5344CB8AC3E}">
        <p14:creationId xmlns:p14="http://schemas.microsoft.com/office/powerpoint/2010/main" val="1950781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3231614"/>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Role of Agentic AI in </a:t>
            </a:r>
            <a:r>
              <a:rPr lang="en-IN" sz="1600" dirty="0"/>
              <a:t>Mental Health Awareness &amp; Suicide Prevention</a:t>
            </a:r>
          </a:p>
          <a:p>
            <a:pPr lvl="0"/>
            <a:endParaRPr sz="1600" dirty="0"/>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Agentic AI</a:t>
            </a:r>
            <a:r>
              <a:rPr lang="en-US" sz="1400" b="1" dirty="0">
                <a:solidFill>
                  <a:srgbClr val="000000"/>
                </a:solidFill>
                <a:latin typeface="Arial"/>
                <a:ea typeface="Arial"/>
                <a:cs typeface="Arial"/>
                <a:sym typeface="Arial"/>
              </a:rPr>
              <a:t> </a:t>
            </a:r>
            <a:r>
              <a:rPr lang="en-US" sz="1400" b="1" i="0" u="none" strike="noStrike" cap="none" dirty="0">
                <a:solidFill>
                  <a:srgbClr val="000000"/>
                </a:solidFill>
                <a:latin typeface="Arial"/>
                <a:ea typeface="Arial"/>
                <a:cs typeface="Arial"/>
                <a:sym typeface="Arial"/>
              </a:rPr>
              <a:t>in Mental Health</a:t>
            </a:r>
            <a:r>
              <a:rPr lang="en-US" sz="1400" b="0" i="0" u="none" strike="noStrike" cap="none" dirty="0">
                <a:solidFill>
                  <a:srgbClr val="000000"/>
                </a:solidFill>
                <a:latin typeface="Arial"/>
                <a:ea typeface="Arial"/>
                <a:cs typeface="Arial"/>
                <a:sym typeface="Arial"/>
              </a:rPr>
              <a:t> </a:t>
            </a:r>
            <a:r>
              <a:rPr lang="en-US" sz="1400" dirty="0">
                <a:solidFill>
                  <a:srgbClr val="000000"/>
                </a:solidFill>
                <a:latin typeface="Arial"/>
                <a:ea typeface="Arial"/>
                <a:cs typeface="Arial"/>
                <a:sym typeface="Arial"/>
              </a:rPr>
              <a:t>is</a:t>
            </a:r>
            <a:r>
              <a:rPr lang="en-US" sz="1400" b="0" i="0" u="none" strike="noStrike" cap="none" dirty="0">
                <a:solidFill>
                  <a:srgbClr val="000000"/>
                </a:solidFill>
                <a:latin typeface="Arial"/>
                <a:ea typeface="Arial"/>
                <a:cs typeface="Arial"/>
                <a:sym typeface="Arial"/>
              </a:rPr>
              <a:t> an empathetic, proactive, and safe Mental Health Awareness &amp; Suicide Prevention Agent that educates, detects early distress (RAG), provides empathetic support with clear disclaimers, predicts/prevents risk with consent, and connects users to human help. Its tone </a:t>
            </a:r>
            <a:r>
              <a:rPr lang="en-US" sz="1400" dirty="0">
                <a:solidFill>
                  <a:srgbClr val="000000"/>
                </a:solidFill>
                <a:latin typeface="Arial"/>
                <a:ea typeface="Arial"/>
                <a:cs typeface="Arial"/>
                <a:sym typeface="Arial"/>
              </a:rPr>
              <a:t>is </a:t>
            </a:r>
            <a:r>
              <a:rPr lang="en-US" sz="1400" b="0" i="0" u="none" strike="noStrike" cap="none" dirty="0">
                <a:solidFill>
                  <a:srgbClr val="000000"/>
                </a:solidFill>
                <a:latin typeface="Arial"/>
                <a:ea typeface="Arial"/>
                <a:cs typeface="Arial"/>
                <a:sym typeface="Arial"/>
              </a:rPr>
              <a:t> calm, non judgmental, concise, and supportive. Safety principle is to always prioritize user safety, privacy, and consent; never provide clinical diagnosis; always include a clear disclaimer.</a:t>
            </a:r>
          </a:p>
          <a:p>
            <a:pPr lvl="0"/>
            <a:r>
              <a:rPr lang="en-IN" sz="1400" dirty="0">
                <a:latin typeface="Arial" panose="020B0604020202020204" pitchFamily="34" charset="0"/>
                <a:cs typeface="Arial" panose="020B0604020202020204" pitchFamily="34" charset="0"/>
              </a:rPr>
              <a:t>The agent supports safety disclaimer text.  Also </a:t>
            </a:r>
            <a:r>
              <a:rPr lang="en-IN" sz="1400" dirty="0"/>
              <a:t>assign a safety‑tuned conversational model for chat and a high‑context instruct model for RAG and long inputs. </a:t>
            </a:r>
            <a:r>
              <a:rPr lang="en-IN" sz="1400" dirty="0" err="1"/>
              <a:t>Ihe</a:t>
            </a:r>
            <a:r>
              <a:rPr lang="en-IN" sz="1400" dirty="0"/>
              <a:t> agent register vetted resources for mindfulness, coping strategies, and self‑care (URLs, short summaries).</a:t>
            </a:r>
          </a:p>
          <a:p>
            <a:pPr lvl="0"/>
            <a:r>
              <a:rPr lang="en-IN" sz="1400" dirty="0"/>
              <a:t>Decide response path: if </a:t>
            </a:r>
            <a:r>
              <a:rPr lang="en-IN" sz="1400" b="1" dirty="0" err="1"/>
              <a:t>risk_score</a:t>
            </a:r>
            <a:r>
              <a:rPr lang="en-IN" sz="1400" b="1" dirty="0"/>
              <a:t> &lt; </a:t>
            </a:r>
            <a:r>
              <a:rPr lang="en-IN" sz="1400" b="1" dirty="0" err="1"/>
              <a:t>low_threshold</a:t>
            </a:r>
            <a:r>
              <a:rPr lang="en-IN" sz="1400" dirty="0"/>
              <a:t> → educational/empathetic reply; if </a:t>
            </a:r>
            <a:r>
              <a:rPr lang="en-IN" sz="1400" b="1" dirty="0" err="1"/>
              <a:t>low_threshold</a:t>
            </a:r>
            <a:r>
              <a:rPr lang="en-IN" sz="1400" b="1" dirty="0"/>
              <a:t> ≤ </a:t>
            </a:r>
            <a:r>
              <a:rPr lang="en-IN" sz="1400" b="1" dirty="0" err="1"/>
              <a:t>risk_score</a:t>
            </a:r>
            <a:r>
              <a:rPr lang="en-IN" sz="1400" b="1" dirty="0"/>
              <a:t> &lt; </a:t>
            </a:r>
            <a:r>
              <a:rPr lang="en-IN" sz="1400" b="1" dirty="0" err="1"/>
              <a:t>high_threshold</a:t>
            </a:r>
            <a:r>
              <a:rPr lang="en-IN" sz="1400" dirty="0"/>
              <a:t> → proactive support + preventive suggestions; if </a:t>
            </a:r>
            <a:r>
              <a:rPr lang="en-IN" sz="1400" b="1" dirty="0" err="1"/>
              <a:t>risk_score</a:t>
            </a:r>
            <a:r>
              <a:rPr lang="en-IN" sz="1400" b="1" dirty="0"/>
              <a:t> ≥ </a:t>
            </a:r>
            <a:r>
              <a:rPr lang="en-IN" sz="1400" b="1" dirty="0" err="1"/>
              <a:t>high_threshold</a:t>
            </a:r>
            <a:r>
              <a:rPr lang="en-IN" sz="1400" dirty="0"/>
              <a:t> → follow escalation flow (with consent).</a:t>
            </a: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a:t>
            </a:r>
            <a:r>
              <a:rPr lang="en-US" sz="1800" b="0" i="0" u="none" strike="noStrike" cap="none" dirty="0" err="1">
                <a:solidFill>
                  <a:srgbClr val="000000"/>
                </a:solidFill>
                <a:latin typeface="Arial"/>
                <a:ea typeface="Arial"/>
                <a:cs typeface="Arial"/>
                <a:sym typeface="Arial"/>
              </a:rPr>
              <a:t>ibm</a:t>
            </a:r>
            <a:r>
              <a:rPr lang="en-US" sz="1800" b="0" i="0" u="none" strike="noStrike" cap="none" dirty="0">
                <a:solidFill>
                  <a:srgbClr val="000000"/>
                </a:solidFill>
                <a:latin typeface="Arial"/>
                <a:ea typeface="Arial"/>
                <a:cs typeface="Arial"/>
                <a:sym typeface="Arial"/>
              </a:rPr>
              <a:t>-</a:t>
            </a:r>
            <a:r>
              <a:rPr lang="en-US" dirty="0">
                <a:solidFill>
                  <a:srgbClr val="000000"/>
                </a:solidFill>
                <a:latin typeface="Arial"/>
                <a:ea typeface="Arial"/>
                <a:cs typeface="Arial"/>
                <a:sym typeface="Arial"/>
              </a:rPr>
              <a:t> granite-8b-code-Instruct</a:t>
            </a:r>
            <a:r>
              <a:rPr lang="en-US" sz="1800" b="0" i="0" u="none" strike="noStrike" cap="none" dirty="0">
                <a:solidFill>
                  <a:srgbClr val="000000"/>
                </a:solidFill>
                <a:latin typeface="Arial"/>
                <a:ea typeface="Arial"/>
                <a:cs typeface="Arial"/>
                <a:sym typeface="Arial"/>
              </a:rPr>
              <a:t>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Mental Healthcare and  Suicide Prevention Agent efficiently. IBM Cloud </a:t>
            </a:r>
            <a:r>
              <a:rPr lang="en-US" dirty="0">
                <a:solidFill>
                  <a:srgbClr val="000000"/>
                </a:solidFill>
                <a:latin typeface="Arial"/>
                <a:ea typeface="Arial"/>
                <a:cs typeface="Arial"/>
                <a:sym typeface="Arial"/>
              </a:rPr>
              <a:t>provides </a:t>
            </a:r>
            <a:r>
              <a:rPr lang="en-US" sz="1800" b="0" i="0" u="none" strike="noStrike" cap="none" dirty="0">
                <a:solidFill>
                  <a:srgbClr val="000000"/>
                </a:solidFill>
                <a:latin typeface="Arial"/>
                <a:ea typeface="Arial"/>
                <a:cs typeface="Arial"/>
                <a:sym typeface="Arial"/>
              </a:rPr>
              <a:t>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dirty="0">
                <a:solidFill>
                  <a:srgbClr val="000000"/>
                </a:solidFill>
                <a:latin typeface="Arial"/>
                <a:ea typeface="Arial"/>
                <a:cs typeface="Arial"/>
                <a:sym typeface="Arial"/>
              </a:rPr>
              <a:t>use</a:t>
            </a:r>
            <a:r>
              <a:rPr lang="en-US" sz="1800" i="0" u="none" strike="noStrike" cap="none" dirty="0">
                <a:solidFill>
                  <a:srgbClr val="000000"/>
                </a:solidFill>
                <a:latin typeface="Arial"/>
                <a:ea typeface="Arial"/>
                <a:cs typeface="Arial"/>
                <a:sym typeface="Arial"/>
              </a:rPr>
              <a:t> real </a:t>
            </a:r>
            <a:r>
              <a:rPr lang="en-US" dirty="0">
                <a:solidFill>
                  <a:srgbClr val="000000"/>
                </a:solidFill>
                <a:latin typeface="Arial"/>
                <a:ea typeface="Arial"/>
                <a:cs typeface="Arial"/>
                <a:sym typeface="Arial"/>
              </a:rPr>
              <a:t>data and provide more relevant advice</a:t>
            </a:r>
            <a:r>
              <a:rPr lang="en-US" sz="1800" b="0" i="0" u="none" strike="noStrike" cap="none" dirty="0">
                <a:solidFill>
                  <a:srgbClr val="000000"/>
                </a:solidFill>
                <a:latin typeface="Arial"/>
                <a:ea typeface="Arial"/>
                <a:cs typeface="Arial"/>
                <a:sym typeface="Arial"/>
              </a:rPr>
              <a:t>, making the Agent more trustworthy and effective for the present-day scenario.</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Vector Database </a:t>
            </a:r>
            <a:r>
              <a:rPr lang="en-US" sz="1800" b="0" i="0" u="none" strike="noStrike" cap="none" dirty="0">
                <a:solidFill>
                  <a:srgbClr val="000000"/>
                </a:solidFill>
                <a:latin typeface="Arial"/>
                <a:ea typeface="Arial"/>
                <a:cs typeface="Arial"/>
                <a:sym typeface="Arial"/>
              </a:rPr>
              <a:t> – For RAG-based  data retrieval</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956C-4D0C-51C5-9364-F8AA42BDC25C}"/>
              </a:ext>
            </a:extLst>
          </p:cNvPr>
          <p:cNvSpPr>
            <a:spLocks noGrp="1"/>
          </p:cNvSpPr>
          <p:nvPr>
            <p:ph type="title"/>
          </p:nvPr>
        </p:nvSpPr>
        <p:spPr>
          <a:xfrm>
            <a:off x="1034846" y="416232"/>
            <a:ext cx="10515600" cy="529610"/>
          </a:xfrm>
        </p:spPr>
        <p:txBody>
          <a:bodyPr>
            <a:normAutofit fontScale="90000"/>
          </a:bodyPr>
          <a:lstStyle/>
          <a:p>
            <a:r>
              <a:rPr lang="en-US" sz="2700" b="1" dirty="0">
                <a:solidFill>
                  <a:srgbClr val="000000"/>
                </a:solidFill>
                <a:latin typeface="Arial"/>
                <a:ea typeface="Arial"/>
                <a:cs typeface="Arial"/>
                <a:sym typeface="Arial"/>
              </a:rPr>
              <a:t>Novelty and Uniqueness</a:t>
            </a:r>
            <a:br>
              <a:rPr lang="en-US" b="1" dirty="0">
                <a:solidFill>
                  <a:srgbClr val="000000"/>
                </a:solidFill>
                <a:latin typeface="Arial"/>
                <a:ea typeface="Arial"/>
                <a:cs typeface="Arial"/>
                <a:sym typeface="Arial"/>
              </a:rPr>
            </a:br>
            <a:endParaRPr lang="en-IN" dirty="0"/>
          </a:p>
        </p:txBody>
      </p:sp>
      <p:sp>
        <p:nvSpPr>
          <p:cNvPr id="3" name="Content Placeholder 2">
            <a:extLst>
              <a:ext uri="{FF2B5EF4-FFF2-40B4-BE49-F238E27FC236}">
                <a16:creationId xmlns:a16="http://schemas.microsoft.com/office/drawing/2014/main" id="{089F539B-70F1-E736-DE0F-111B950E3D02}"/>
              </a:ext>
            </a:extLst>
          </p:cNvPr>
          <p:cNvSpPr>
            <a:spLocks noGrp="1"/>
          </p:cNvSpPr>
          <p:nvPr>
            <p:ph idx="1"/>
          </p:nvPr>
        </p:nvSpPr>
        <p:spPr>
          <a:xfrm>
            <a:off x="838200" y="747252"/>
            <a:ext cx="10515600" cy="5624051"/>
          </a:xfrm>
        </p:spPr>
        <p:txBody>
          <a:bodyPr>
            <a:normAutofit fontScale="77500" lnSpcReduction="20000"/>
          </a:bodyPr>
          <a:lstStyle/>
          <a:p>
            <a:pPr marL="0" indent="0">
              <a:buNone/>
            </a:pPr>
            <a:r>
              <a:rPr lang="en-IN" sz="2900" b="1" dirty="0"/>
              <a:t>Novelty</a:t>
            </a:r>
          </a:p>
          <a:p>
            <a:r>
              <a:rPr lang="en-IN" sz="2600" b="1" dirty="0">
                <a:effectLst/>
              </a:rPr>
              <a:t>Hybrid Agentic Design</a:t>
            </a:r>
            <a:r>
              <a:rPr lang="en-IN" sz="2600" dirty="0">
                <a:effectLst/>
              </a:rPr>
              <a:t>: Unlike traditional chatbots, this agent combines </a:t>
            </a:r>
            <a:r>
              <a:rPr lang="en-IN" sz="2600" b="1" dirty="0">
                <a:effectLst/>
              </a:rPr>
              <a:t>empathetic conversation</a:t>
            </a:r>
            <a:r>
              <a:rPr lang="en-IN" sz="2600" dirty="0">
                <a:effectLst/>
              </a:rPr>
              <a:t> with </a:t>
            </a:r>
            <a:r>
              <a:rPr lang="en-IN" sz="2600" b="1" dirty="0">
                <a:effectLst/>
              </a:rPr>
              <a:t>predictive analytics</a:t>
            </a:r>
            <a:r>
              <a:rPr lang="en-IN" sz="2600" dirty="0">
                <a:effectLst/>
              </a:rPr>
              <a:t> and </a:t>
            </a:r>
            <a:r>
              <a:rPr lang="en-IN" sz="2600" b="1" dirty="0">
                <a:effectLst/>
              </a:rPr>
              <a:t>retrieval‑augmented generation (RAG)</a:t>
            </a:r>
            <a:r>
              <a:rPr lang="en-IN" sz="2600" dirty="0">
                <a:effectLst/>
              </a:rPr>
              <a:t>. This dual capability allows it to both </a:t>
            </a:r>
            <a:r>
              <a:rPr lang="en-IN" sz="2600" i="1" dirty="0">
                <a:effectLst/>
              </a:rPr>
              <a:t>listen and understand feelings in real time.</a:t>
            </a:r>
            <a:r>
              <a:rPr lang="en-IN" sz="2600" dirty="0">
                <a:effectLst/>
              </a:rPr>
              <a:t> </a:t>
            </a:r>
            <a:endParaRPr lang="en-IN" sz="2600" dirty="0"/>
          </a:p>
          <a:p>
            <a:r>
              <a:rPr lang="en-IN" sz="2600" b="1" dirty="0">
                <a:effectLst/>
              </a:rPr>
              <a:t>Consent‑based Escalation</a:t>
            </a:r>
            <a:r>
              <a:rPr lang="en-IN" sz="2600" dirty="0">
                <a:effectLst/>
              </a:rPr>
              <a:t>: The agent introduces a </a:t>
            </a:r>
            <a:r>
              <a:rPr lang="en-IN" sz="2600" b="1" dirty="0">
                <a:effectLst/>
              </a:rPr>
              <a:t>consent‑driven safety mechanism</a:t>
            </a:r>
            <a:r>
              <a:rPr lang="en-IN" sz="2600" dirty="0">
                <a:effectLst/>
              </a:rPr>
              <a:t> before connecting users to human support. </a:t>
            </a:r>
            <a:r>
              <a:rPr lang="en-IN" sz="2600" b="1" dirty="0">
                <a:effectLst/>
              </a:rPr>
              <a:t>Region‑specific Integration</a:t>
            </a:r>
            <a:r>
              <a:rPr lang="en-IN" sz="2600" dirty="0">
                <a:effectLst/>
              </a:rPr>
              <a:t>: By embedding </a:t>
            </a:r>
            <a:r>
              <a:rPr lang="en-IN" sz="2600" b="1" dirty="0">
                <a:effectLst/>
              </a:rPr>
              <a:t>local helplines and culturally relevant resources</a:t>
            </a:r>
            <a:r>
              <a:rPr lang="en-IN" sz="2600" dirty="0">
                <a:effectLst/>
              </a:rPr>
              <a:t>, the agent adapts to the user’s environment, making it more practical and personalized.</a:t>
            </a:r>
          </a:p>
          <a:p>
            <a:endParaRPr lang="en-IN" sz="2600" dirty="0"/>
          </a:p>
          <a:p>
            <a:pPr marL="0" indent="0">
              <a:buNone/>
            </a:pPr>
            <a:r>
              <a:rPr lang="en-IN" sz="2900" b="1" dirty="0"/>
              <a:t>Uniqueness</a:t>
            </a:r>
          </a:p>
          <a:p>
            <a:r>
              <a:rPr lang="en-IN" sz="2600" b="1" dirty="0">
                <a:effectLst/>
              </a:rPr>
              <a:t>Empathy + Education Fusion</a:t>
            </a:r>
            <a:r>
              <a:rPr lang="en-IN" sz="2600" dirty="0">
                <a:effectLst/>
              </a:rPr>
              <a:t>: The agent doesn’t just detect distress—it actively promotes </a:t>
            </a:r>
            <a:r>
              <a:rPr lang="en-IN" sz="2600" b="1" dirty="0">
                <a:effectLst/>
              </a:rPr>
              <a:t>mental health awareness</a:t>
            </a:r>
            <a:r>
              <a:rPr lang="en-IN" sz="2600" dirty="0">
                <a:effectLst/>
              </a:rPr>
              <a:t> by sharing accessible resources on mindfulness, coping strategies, and self‑care. </a:t>
            </a:r>
          </a:p>
          <a:p>
            <a:r>
              <a:rPr lang="en-IN" sz="2600" b="1" dirty="0">
                <a:effectLst/>
              </a:rPr>
              <a:t>Predictive Risk Forecasting</a:t>
            </a:r>
            <a:r>
              <a:rPr lang="en-IN" sz="2600" dirty="0">
                <a:effectLst/>
              </a:rPr>
              <a:t>: Beyond detection, the agent uses </a:t>
            </a:r>
            <a:r>
              <a:rPr lang="en-IN" sz="2600" b="1" dirty="0">
                <a:effectLst/>
              </a:rPr>
              <a:t>trend analysis of journaling inputs and conversations</a:t>
            </a:r>
            <a:r>
              <a:rPr lang="en-IN" sz="2600" dirty="0">
                <a:effectLst/>
              </a:rPr>
              <a:t> to forecast stress peaks. </a:t>
            </a:r>
          </a:p>
          <a:p>
            <a:r>
              <a:rPr lang="en-IN" sz="2600" b="1" dirty="0">
                <a:effectLst/>
              </a:rPr>
              <a:t>Safe AI Deployment</a:t>
            </a:r>
            <a:r>
              <a:rPr lang="en-IN" sz="2600" dirty="0">
                <a:effectLst/>
              </a:rPr>
              <a:t>: Built on </a:t>
            </a:r>
            <a:r>
              <a:rPr lang="en-IN" sz="2600" b="1" dirty="0">
                <a:effectLst/>
              </a:rPr>
              <a:t>IBM watsonx.ai with </a:t>
            </a:r>
            <a:r>
              <a:rPr lang="en-IN" sz="2600" b="1" dirty="0" err="1">
                <a:effectLst/>
              </a:rPr>
              <a:t>Langflow</a:t>
            </a:r>
            <a:r>
              <a:rPr lang="en-IN" sz="2600" b="1" dirty="0">
                <a:effectLst/>
              </a:rPr>
              <a:t> orchestration</a:t>
            </a:r>
            <a:r>
              <a:rPr lang="en-IN" sz="2600" dirty="0">
                <a:effectLst/>
              </a:rPr>
              <a:t>, the agent leverages </a:t>
            </a:r>
            <a:r>
              <a:rPr lang="en-IN" sz="2600" b="1" dirty="0">
                <a:effectLst/>
              </a:rPr>
              <a:t>Granite‑Guardian models</a:t>
            </a:r>
            <a:r>
              <a:rPr lang="en-IN" sz="2600" dirty="0">
                <a:effectLst/>
              </a:rPr>
              <a:t> for safety‑tuned empathetic dialogue and </a:t>
            </a:r>
            <a:r>
              <a:rPr lang="en-IN" sz="2600" b="1" dirty="0">
                <a:effectLst/>
              </a:rPr>
              <a:t>Granite‑Instruct models</a:t>
            </a:r>
            <a:r>
              <a:rPr lang="en-IN" sz="2600" dirty="0">
                <a:effectLst/>
              </a:rPr>
              <a:t> for RAG. This dual‑model architecture ensures both </a:t>
            </a:r>
            <a:r>
              <a:rPr lang="en-IN" sz="2600" b="1" dirty="0">
                <a:effectLst/>
              </a:rPr>
              <a:t>responsiveness</a:t>
            </a:r>
            <a:r>
              <a:rPr lang="en-IN" sz="2600" dirty="0">
                <a:effectLst/>
              </a:rPr>
              <a:t> and </a:t>
            </a:r>
            <a:r>
              <a:rPr lang="en-IN" sz="2600" b="1" dirty="0">
                <a:effectLst/>
              </a:rPr>
              <a:t>responsibility</a:t>
            </a:r>
            <a:r>
              <a:rPr lang="en-IN" sz="2600" dirty="0">
                <a:effectLst/>
              </a:rPr>
              <a:t>, setting it apart from single‑model conversational agents.</a:t>
            </a:r>
            <a:endParaRPr lang="en-IN" sz="2600" dirty="0"/>
          </a:p>
          <a:p>
            <a:endParaRPr lang="en-IN" dirty="0"/>
          </a:p>
        </p:txBody>
      </p:sp>
    </p:spTree>
    <p:extLst>
      <p:ext uri="{BB962C8B-B14F-4D97-AF65-F5344CB8AC3E}">
        <p14:creationId xmlns:p14="http://schemas.microsoft.com/office/powerpoint/2010/main" val="185945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W</a:t>
            </a:r>
            <a:r>
              <a:rPr lang="en-US" sz="1850" b="0" i="0" u="none" strike="noStrike" cap="none" dirty="0">
                <a:solidFill>
                  <a:srgbClr val="2B3541"/>
                </a:solidFill>
                <a:latin typeface="Times New Roman"/>
                <a:ea typeface="Times New Roman"/>
                <a:cs typeface="Times New Roman"/>
                <a:sym typeface="Times New Roman"/>
              </a:rPr>
              <a:t>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–https://github.com/jayaramk4u/BVM_FDP_Edunet_Jayaram</a:t>
            </a:r>
          </a:p>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dirty="0">
                <a:solidFill>
                  <a:srgbClr val="2B3541"/>
                </a:solidFill>
                <a:latin typeface="Times New Roman"/>
                <a:ea typeface="Times New Roman"/>
                <a:cs typeface="Times New Roman"/>
                <a:sym typeface="Times New Roman"/>
              </a:rPr>
              <a:t>Mental </a:t>
            </a:r>
            <a:r>
              <a:rPr lang="en-US" sz="1850" dirty="0" err="1">
                <a:solidFill>
                  <a:srgbClr val="2B3541"/>
                </a:solidFill>
                <a:latin typeface="Times New Roman"/>
                <a:ea typeface="Times New Roman"/>
                <a:cs typeface="Times New Roman"/>
                <a:sym typeface="Times New Roman"/>
              </a:rPr>
              <a:t>Healthcare</a:t>
            </a:r>
            <a:r>
              <a:rPr lang="en-US" sz="1850" b="0" i="0" u="none" strike="noStrike" cap="none" dirty="0" err="1">
                <a:solidFill>
                  <a:srgbClr val="2B3541"/>
                </a:solidFill>
                <a:latin typeface="Times New Roman"/>
                <a:ea typeface="Times New Roman"/>
                <a:cs typeface="Times New Roman"/>
                <a:sym typeface="Times New Roman"/>
              </a:rPr>
              <a:t>.json</a:t>
            </a:r>
            <a:r>
              <a:rPr lang="en-US" sz="1850" b="0" i="0" u="none" strike="noStrike" cap="none" dirty="0">
                <a:solidFill>
                  <a:srgbClr val="2B3541"/>
                </a:solidFill>
                <a:latin typeface="Times New Roman"/>
                <a:ea typeface="Times New Roman"/>
                <a:cs typeface="Times New Roman"/>
                <a:sym typeface="Times New Roman"/>
              </a:rPr>
              <a:t> file , 2) </a:t>
            </a:r>
            <a:r>
              <a:rPr lang="en-US" sz="1850" dirty="0">
                <a:solidFill>
                  <a:srgbClr val="2B3541"/>
                </a:solidFill>
                <a:latin typeface="Times New Roman"/>
                <a:ea typeface="Times New Roman"/>
                <a:cs typeface="Times New Roman"/>
                <a:sym typeface="Times New Roman"/>
              </a:rPr>
              <a:t>Mental Healthcare P</a:t>
            </a:r>
            <a:r>
              <a:rPr lang="en-US" sz="1850" b="0" i="0" u="none" strike="noStrike" cap="none" dirty="0">
                <a:solidFill>
                  <a:srgbClr val="2B3541"/>
                </a:solidFill>
                <a:latin typeface="Times New Roman"/>
                <a:ea typeface="Times New Roman"/>
                <a:cs typeface="Times New Roman"/>
                <a:sym typeface="Times New Roman"/>
              </a:rPr>
              <a:t>roblemStatement.pdf file  3) </a:t>
            </a:r>
            <a:r>
              <a:rPr lang="en-US" sz="1850" dirty="0">
                <a:solidFill>
                  <a:srgbClr val="2B3541"/>
                </a:solidFill>
                <a:latin typeface="Times New Roman"/>
                <a:ea typeface="Times New Roman"/>
                <a:cs typeface="Times New Roman"/>
                <a:sym typeface="Times New Roman"/>
              </a:rPr>
              <a:t>Mental Healthcare Presentation</a:t>
            </a:r>
            <a:r>
              <a:rPr lang="en-US" sz="1850" b="0" i="0" u="none" strike="noStrike" cap="none" dirty="0">
                <a:solidFill>
                  <a:srgbClr val="2B3541"/>
                </a:solidFill>
                <a:latin typeface="Times New Roman"/>
                <a:ea typeface="Times New Roman"/>
                <a:cs typeface="Times New Roman"/>
                <a:sym typeface="Times New Roman"/>
              </a:rPr>
              <a:t>.pptx file</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933587" y="1124746"/>
            <a:ext cx="10471831" cy="5415059"/>
          </a:xfrm>
          <a:prstGeom prst="rect">
            <a:avLst/>
          </a:prstGeom>
          <a:noFill/>
          <a:ln>
            <a:noFill/>
          </a:ln>
        </p:spPr>
        <p:txBody>
          <a:bodyPr spcFirstLastPara="1" wrap="square" lIns="0" tIns="0" rIns="0" bIns="0" anchor="t" anchorCtr="0">
            <a:noAutofit/>
          </a:bodyPr>
          <a:lstStyle/>
          <a:p>
            <a:r>
              <a:rPr lang="en-IN" b="1" dirty="0">
                <a:effectLst/>
              </a:rPr>
              <a:t>Personalized Mental Health Coaching</a:t>
            </a:r>
            <a:endParaRPr lang="en-IN" dirty="0"/>
          </a:p>
          <a:p>
            <a:pPr marL="742950" lvl="1" indent="-285750" algn="just">
              <a:buFont typeface="Arial" panose="020B0604020202020204" pitchFamily="34" charset="0"/>
              <a:buChar char="•"/>
            </a:pPr>
            <a:r>
              <a:rPr lang="en-IN" dirty="0">
                <a:effectLst/>
              </a:rPr>
              <a:t>Integrate wearable and mobile health data (sleep, heart rate, activity) to provide personalized stress‑management recommendations.</a:t>
            </a:r>
            <a:endParaRPr lang="en-IN" dirty="0"/>
          </a:p>
          <a:p>
            <a:pPr marL="742950" lvl="1" indent="-285750" algn="just">
              <a:buFont typeface="Arial" panose="020B0604020202020204" pitchFamily="34" charset="0"/>
              <a:buChar char="•"/>
            </a:pPr>
            <a:r>
              <a:rPr lang="en-IN" dirty="0">
                <a:effectLst/>
              </a:rPr>
              <a:t>Use adaptive learning so the agent tailors coping strategies based on user history and preferences.</a:t>
            </a:r>
            <a:endParaRPr lang="en-IN" dirty="0"/>
          </a:p>
          <a:p>
            <a:endParaRPr lang="en-IN" b="1" dirty="0">
              <a:effectLst/>
            </a:endParaRPr>
          </a:p>
          <a:p>
            <a:r>
              <a:rPr lang="en-IN" b="1" dirty="0">
                <a:effectLst/>
              </a:rPr>
              <a:t>Multilingual &amp; Cultural Expansion</a:t>
            </a:r>
            <a:endParaRPr lang="en-IN" dirty="0"/>
          </a:p>
          <a:p>
            <a:pPr marL="742950" lvl="1" indent="-285750" algn="just">
              <a:buFont typeface="Arial" panose="020B0604020202020204" pitchFamily="34" charset="0"/>
              <a:buChar char="•"/>
            </a:pPr>
            <a:r>
              <a:rPr lang="en-IN" dirty="0">
                <a:effectLst/>
              </a:rPr>
              <a:t>Extend support to multiple languages and culturally relevant resources, ensuring accessibility across diverse regions. </a:t>
            </a:r>
          </a:p>
          <a:p>
            <a:pPr marL="742950" lvl="1" indent="-285750" algn="just">
              <a:buFont typeface="Arial" panose="020B0604020202020204" pitchFamily="34" charset="0"/>
              <a:buChar char="•"/>
            </a:pPr>
            <a:r>
              <a:rPr lang="en-IN" dirty="0">
                <a:effectLst/>
              </a:rPr>
              <a:t>Incorporate local helplines and community networks dynamically based on user location.</a:t>
            </a:r>
            <a:endParaRPr lang="en-IN" dirty="0"/>
          </a:p>
          <a:p>
            <a:endParaRPr lang="en-IN" b="1" dirty="0">
              <a:effectLst/>
            </a:endParaRPr>
          </a:p>
          <a:p>
            <a:r>
              <a:rPr lang="en-IN" b="1" dirty="0">
                <a:effectLst/>
              </a:rPr>
              <a:t>Advanced Predictive Analytics</a:t>
            </a:r>
            <a:endParaRPr lang="en-IN" dirty="0"/>
          </a:p>
          <a:p>
            <a:pPr marL="742950" lvl="1" indent="-285750" algn="just">
              <a:buFont typeface="Arial" panose="020B0604020202020204" pitchFamily="34" charset="0"/>
              <a:buChar char="•"/>
            </a:pPr>
            <a:r>
              <a:rPr lang="en-IN" dirty="0">
                <a:effectLst/>
              </a:rPr>
              <a:t>Employ time‑series </a:t>
            </a:r>
            <a:r>
              <a:rPr lang="en-IN" dirty="0" err="1">
                <a:effectLst/>
              </a:rPr>
              <a:t>modeling</a:t>
            </a:r>
            <a:r>
              <a:rPr lang="en-IN" dirty="0">
                <a:effectLst/>
              </a:rPr>
              <a:t> to forecast long‑term mental health trends from journaling and conversation patterns.</a:t>
            </a:r>
            <a:endParaRPr lang="en-IN" dirty="0"/>
          </a:p>
          <a:p>
            <a:pPr marL="742950" lvl="1" indent="-285750" algn="just">
              <a:buFont typeface="Arial" panose="020B0604020202020204" pitchFamily="34" charset="0"/>
              <a:buChar char="•"/>
            </a:pPr>
            <a:r>
              <a:rPr lang="en-IN" dirty="0">
                <a:effectLst/>
              </a:rPr>
              <a:t>Enable proactive nudges before stress peaks occur, shifting from reactive to preventive care.</a:t>
            </a:r>
            <a:endParaRPr lang="en-IN" dirty="0"/>
          </a:p>
          <a:p>
            <a:endParaRPr lang="en-IN" b="1" dirty="0">
              <a:effectLst/>
            </a:endParaRPr>
          </a:p>
          <a:p>
            <a:r>
              <a:rPr lang="en-IN" b="1" dirty="0">
                <a:effectLst/>
              </a:rPr>
              <a:t>Integration with Professional Networks</a:t>
            </a:r>
            <a:endParaRPr lang="en-IN" dirty="0"/>
          </a:p>
          <a:p>
            <a:pPr marL="742950" lvl="1" indent="-285750" algn="just">
              <a:buFont typeface="Arial" panose="020B0604020202020204" pitchFamily="34" charset="0"/>
              <a:buChar char="•"/>
            </a:pPr>
            <a:r>
              <a:rPr lang="en-IN" dirty="0">
                <a:effectLst/>
              </a:rPr>
              <a:t>Build secure bridges to therapist platforms, telehealth services, and community </a:t>
            </a:r>
            <a:r>
              <a:rPr lang="en-IN" dirty="0" err="1">
                <a:effectLst/>
              </a:rPr>
              <a:t>counselors</a:t>
            </a:r>
            <a:r>
              <a:rPr lang="en-IN" dirty="0">
                <a:effectLst/>
              </a:rPr>
              <a:t> for seamless human handoff.</a:t>
            </a:r>
            <a:endParaRPr lang="en-IN" dirty="0"/>
          </a:p>
          <a:p>
            <a:pPr marL="742950" lvl="1" indent="-285750" algn="just">
              <a:buFont typeface="Arial" panose="020B0604020202020204" pitchFamily="34" charset="0"/>
              <a:buChar char="•"/>
            </a:pPr>
            <a:r>
              <a:rPr lang="en-IN" dirty="0">
                <a:effectLst/>
              </a:rPr>
              <a:t>Allow professionals to review anonymized agent logs to improve care quality.</a:t>
            </a:r>
            <a:endParaRPr lang="en-IN" dirty="0"/>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43E9B-6846-6B2E-A733-1BA240CCA820}"/>
              </a:ext>
            </a:extLst>
          </p:cNvPr>
          <p:cNvSpPr>
            <a:spLocks noGrp="1"/>
          </p:cNvSpPr>
          <p:nvPr>
            <p:ph type="title"/>
          </p:nvPr>
        </p:nvSpPr>
        <p:spPr>
          <a:xfrm>
            <a:off x="838200" y="1592825"/>
            <a:ext cx="10515600" cy="2644877"/>
          </a:xfrm>
        </p:spPr>
        <p:txBody>
          <a:bodyPr>
            <a:normAutofit/>
          </a:bodyPr>
          <a:lstStyle/>
          <a:p>
            <a:pPr algn="ctr"/>
            <a:r>
              <a:rPr lang="en-IN" sz="7200" dirty="0"/>
              <a:t>Thank You</a:t>
            </a:r>
          </a:p>
        </p:txBody>
      </p:sp>
    </p:spTree>
    <p:extLst>
      <p:ext uri="{BB962C8B-B14F-4D97-AF65-F5344CB8AC3E}">
        <p14:creationId xmlns:p14="http://schemas.microsoft.com/office/powerpoint/2010/main" val="251776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1387</Words>
  <Application>Microsoft Office PowerPoint</Application>
  <PresentationFormat>Widescreen</PresentationFormat>
  <Paragraphs>127</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Times New Roman</vt:lpstr>
      <vt:lpstr>Office Theme</vt:lpstr>
      <vt:lpstr>IBM University Engagement Project Submission</vt:lpstr>
      <vt:lpstr>PowerPoint Presentation</vt:lpstr>
      <vt:lpstr>Problem Statement:   Mental Healthcare Agent </vt:lpstr>
      <vt:lpstr>PowerPoint Presentation</vt:lpstr>
      <vt:lpstr>PowerPoint Presentation</vt:lpstr>
      <vt:lpstr>PowerPoint Presentation</vt:lpstr>
      <vt:lpstr>Langflow workflow</vt:lpstr>
      <vt:lpstr>Query Output</vt:lpstr>
      <vt:lpstr>PowerPoint Presentation</vt:lpstr>
      <vt:lpstr>PowerPoint Presentation</vt:lpstr>
      <vt:lpstr>Novelty and Uniqueness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Jayaram K</dc:creator>
  <cp:lastModifiedBy>Jayaram K</cp:lastModifiedBy>
  <cp:revision>17</cp:revision>
  <dcterms:created xsi:type="dcterms:W3CDTF">2026-06-12T04:09:07Z</dcterms:created>
  <dcterms:modified xsi:type="dcterms:W3CDTF">2026-06-12T07:19:26Z</dcterms:modified>
</cp:coreProperties>
</file>